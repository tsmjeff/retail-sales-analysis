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9CBB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B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29.9</c:v>
                </c:pt>
                <c:pt idx="1">
                  <c:v>26.2</c:v>
                </c:pt>
                <c:pt idx="2">
                  <c:v>29.3</c:v>
                </c:pt>
                <c:pt idx="3">
                  <c:v>27.2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D2B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61.5</c:v>
                </c:pt>
                <c:pt idx="1">
                  <c:v>54.5</c:v>
                </c:pt>
                <c:pt idx="2">
                  <c:v>56.2</c:v>
                </c:pt>
                <c:pt idx="3">
                  <c:v>55.6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D2B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E6F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6F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D2B26"/>
                </a:solidFill>
                <a:latin typeface="Arial"/>
              </a:rPr>
              <a:t>By product (2024–25)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Phone</c:v>
                  </c:pt>
                  <c:pt idx="1">
                    <c:v>Accessories</c:v>
                  </c:pt>
                  <c:pt idx="2">
                    <c:v>Tablet</c:v>
                  </c:pt>
                  <c:pt idx="3">
                    <c:v>Laptop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134.6</c:v>
                </c:pt>
                <c:pt idx="1">
                  <c:v>72.8</c:v>
                </c:pt>
                <c:pt idx="2">
                  <c:v>68.8</c:v>
                </c:pt>
                <c:pt idx="3">
                  <c:v>64.3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F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D2B26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D2B26"/>
                </a:solidFill>
                <a:latin typeface="Arial"/>
              </a:rPr>
              <a:t>By region, 2024 vs 2025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9CBB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Port Harcourt
(K. Fadeyi)</c:v>
                  </c:pt>
                  <c:pt idx="1">
                    <c:v>Abuja
(U. Otedola)</c:v>
                  </c:pt>
                  <c:pt idx="2">
                    <c:v>Lagos
(B. Ahmed)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35.2</c:v>
                </c:pt>
                <c:pt idx="1">
                  <c:v>38.3</c:v>
                </c:pt>
                <c:pt idx="2">
                  <c:v>39.1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B3D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Port Harcourt
(K. Fadeyi)</c:v>
                  </c:pt>
                  <c:pt idx="1">
                    <c:v>Abuja
(U. Otedola)</c:v>
                  </c:pt>
                  <c:pt idx="2">
                    <c:v>Lagos
(B. Ahmed)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80.1</c:v>
                </c:pt>
                <c:pt idx="1">
                  <c:v>75.5</c:v>
                </c:pt>
                <c:pt idx="2">
                  <c:v>72.1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E6F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Poor/Very Poor</c:v>
                </c:pt>
              </c:strCache>
            </c:strRef>
          </c:tx>
          <c:spPr>
            <a:solidFill>
              <a:srgbClr val="E0A52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Urgent Delivery</c:v>
                  </c:pt>
                  <c:pt idx="1">
                    <c:v>Cash</c:v>
                  </c:pt>
                  <c:pt idx="2">
                    <c:v>Accessories</c:v>
                  </c:pt>
                  <c:pt idx="3">
                    <c:v>Abuja</c:v>
                  </c:pt>
                  <c:pt idx="4">
                    <c:v>Card</c:v>
                  </c:pt>
                  <c:pt idx="5">
                    <c:v>Phone</c:v>
                  </c:pt>
                  <c:pt idx="6">
                    <c:v>Lagos</c:v>
                  </c:pt>
                  <c:pt idx="7">
                    <c:v>Transfer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24.5</c:v>
                </c:pt>
                <c:pt idx="1">
                  <c:v>23</c:v>
                </c:pt>
                <c:pt idx="2">
                  <c:v>22.8</c:v>
                </c:pt>
                <c:pt idx="3">
                  <c:v>22.1</c:v>
                </c:pt>
                <c:pt idx="4">
                  <c:v>20.6</c:v>
                </c:pt>
                <c:pt idx="5">
                  <c:v>19.6</c:v>
                </c:pt>
                <c:pt idx="6">
                  <c:v>19.3</c:v>
                </c:pt>
                <c:pt idx="7">
                  <c:v>16.1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D2B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-1097280"/>
            <a:ext cx="4206240" cy="4206240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3108960"/>
            <a:ext cx="2377440" cy="2377440"/>
          </a:xfrm>
          <a:prstGeom prst="ellipse">
            <a:avLst/>
          </a:prstGeom>
          <a:solidFill>
            <a:srgbClr val="E0A526">
              <a:alpha val="8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PERFORMANCE REPORT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&amp; Customer Performance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– 2025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from the Sales &amp; Customer Dashboard  •  Abuja, Lagos &amp; Port Harcourt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Jeffrey Fagbemi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doubled year-on-year, driven by transaction volume rather than larger deals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6F2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₦340.4M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(2024–25)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6F2E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65176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+102%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growth, 2025 vs 2024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6F2E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5488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2,585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 •  26,964 units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66560" y="128016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6F2E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0" y="13716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3.68 / 5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20116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transaction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7432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well: </a:t>
            </a:r>
            <a:pPr indent="0" marL="0">
              <a:buNone/>
            </a:pPr>
            <a:r>
              <a:rPr lang="en-US" sz="1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from ₦112.7M to ₦227.7M. Every region, product, customer type and payment channel roughly doubled, led by Port Harcourt (+127%) and Tablets (+129%).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47288"/>
            <a:ext cx="384048" cy="384048"/>
          </a:xfrm>
          <a:prstGeom prst="ellipse">
            <a:avLst/>
          </a:prstGeom>
          <a:solidFill>
            <a:srgbClr val="E0A52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340156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attention: </a:t>
            </a:r>
            <a:pPr indent="0" marL="0">
              <a:buNone/>
            </a:pPr>
            <a:r>
              <a:rPr lang="en-US" sz="1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came purely from volume: average deal size stayed flat at ~₦131.7K. 2025 peaked in Q1 and plateaued after, and 1 in 5 transactions (21%) was rated Poor or Very Poor.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105656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059936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focus next: </a:t>
            </a:r>
            <a:pPr indent="0" marL="0">
              <a:buNone/>
            </a:pPr>
            <a:r>
              <a:rPr lang="en-US" sz="1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growth by fixing customer experience, raising deal value through bundling and upselling, and preparing systems and data for the next stage of scale.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Trend: Strong Jump, Then a Plateau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revenue, ₦ millions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2926080" cy="3383280"/>
          </a:xfrm>
          <a:prstGeom prst="roundRect">
            <a:avLst>
              <a:gd name="adj" fmla="val 2500"/>
            </a:avLst>
          </a:prstGeom>
          <a:solidFill>
            <a:srgbClr val="E6F2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897880" y="137160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2025 quarter was about double its 2024 equivalent.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2025 (₦61.5M) was the peak; Q2–Q4 averaged ₦55.4M, about 10% lower.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month: March 2025 (₦24.1M). Weakest 2025 month: September (₦16.8M).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momentum has stalled inside 2025 and needs new drivers for 2026.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Performance Drivers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powered the doubling of revenue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rose from 856 to 1,729 (+102%) with the same 48 reps, so each rep closed about twice as many sales.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3716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006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lead the mix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earned ₦134.6M (39.5% of revenue), about twice any other product. Tablets grew fastest (+129%).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46888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9436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Harcourt surge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Harcourt (Kenneth Fadeyi) grew +127% to ₦80.1M, becoming the top region in 2025 and overall (33.9%).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46888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00600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423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acceleration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303520" y="26974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revenue grew +114% vs +92% for Corporate, overtaking Corporate in 2025 (₦115.2M vs ₦112.6M).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56616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436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Broad-based sales team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9728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 Michael Okeke delivered ₦9.8M at a ₦155K average ticket. The top 10 reps hold only 25% of revenue, so there is little key-person risk.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429000"/>
            <a:ext cx="40233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6DE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56616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0352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as the main channel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303520" y="37947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handled 51% of revenue (₦174.4M), followed by Card (32%) and Transfer (17%).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and Regional Performance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product and by region (manager), ₦ millions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34440"/>
          <a:ext cx="40233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23444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pPr indent="0" marL="0">
              <a:buNone/>
            </a:pPr>
            <a:r>
              <a:rPr lang="en-US" sz="12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regions are closely matched (32.7%–33.9% share), but the ranking flipped. Lagos led in 2024 and fell to last in 2025 (+84% growth vs +127% in Port Harcourt).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of Concern / Underperforming Areas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that could limit or reverse the growth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BED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21%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Poor-rated transactions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544 sales rated Poor or Very Poor, tied to ₦72.1M of revenue. The share barely improved (22.1% → 20.5%).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BEDE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deal value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sale was ₦131.6K in 2024 and ₦131.7K in 2025. No upselling or price gains.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23444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BEDE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72200" y="1325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−10%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Post-Q1 slowdown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Q2–Q4 2025 averaged ₦55.4M vs ₦61.5M in Q1. September 2025 was the weakest month.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BEDE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9436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+84%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3474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lags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had the slowest growth of the three regions and dropped from first to third.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BEDE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38328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24.5%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474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Delivery pain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38328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Delivery orders have the highest Poor rate and lowest rating (3.58). Cash sales also score poorly (23%).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35040" y="29260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FBEDE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172200" y="3017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37.5%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6172200" y="3474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quality gaps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3749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reps (e.g., Mary Ojo 37.5%, James Ahmed 36%) have poor-rating rates nearly twice the average.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 and Insights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transactions rated Poor or Very Poor (%)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420624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46320" y="11887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volume-led, not value-led. </a:t>
            </a:r>
            <a:pPr indent="0" marL="0">
              <a:buNone/>
            </a:pPr>
            <a:r>
              <a:rPr lang="en-US" sz="1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doubled because deal count doubled. Pricing and basket size did not move.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883664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create happier customers. </a:t>
            </a:r>
            <a:pPr indent="0" marL="0">
              <a:buNone/>
            </a:pPr>
            <a:r>
              <a:rPr lang="en-US" sz="1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payments have the best rating (3.83) and fewest poor ratings (16%), yet carry only 17% of revenue.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5786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Fulfilment drives dissatisfaction. </a:t>
            </a:r>
            <a:pPr indent="0" marL="0">
              <a:buNone/>
            </a:pPr>
            <a:r>
              <a:rPr lang="en-US" sz="1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Delivery orders are rated worst, which points to logistics rather than product problems.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846320" y="3273552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small, loyal customer base. </a:t>
            </a:r>
            <a:pPr indent="0" marL="0">
              <a:buNone/>
            </a:pPr>
            <a:r>
              <a:rPr lang="en-US" sz="1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~80 distinct customer names across 2,585 sales, so retention matters more than acquisition.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3968496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gaps limit targeting. </a:t>
            </a:r>
            <a:pPr indent="0" marL="0">
              <a:buNone/>
            </a:pPr>
            <a:r>
              <a:rPr lang="en-US" sz="11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of records lack an email and 19% a phone number. Sale amounts do not track quantity (r ≈ 0), which suggests pricing or entry errors.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Recommendations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actions (next 1–2 quarters)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52728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252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18872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customer experience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18872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Poor/Very Poor sales. Set a target to cut the poor-rating rate from 21% to under 12%, starting with Urgent Delivery.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60920" y="128016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6F2E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60920" y="12801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+ Regional managers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176479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the lowest-rated reps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1764792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reps with &gt;28% poor ratings with top-rated reps (e.g., Ibrahim Johnson, Paul Ahmed) and add rating to rep KPIs.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1856232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6F2E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60920" y="185623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leadership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2404872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23408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average deal size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291840" y="2340864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Accessories with Phones, Tablets and Laptops, and set a 10% ticket-size uplift target per rep.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2432304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6F2E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60920" y="2432304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Product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57200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291693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 Lagos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3291840" y="2916936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Lagos growth plan: study Port Harcourt’s playbook, add targeted Retail promotions, and set monthly targets.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360920" y="3008376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6F2E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60920" y="3008376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Ahmed (Lagos)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57200" y="3557016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57200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" y="34930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payments to Transfer/Card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291840" y="3493008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small incentives for Transfer/Card to reduce cash handling and match the channel with the best ratings.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60920" y="3584448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6F2EC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360920" y="3584448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57200" y="4133088"/>
            <a:ext cx="384048" cy="384048"/>
          </a:xfrm>
          <a:prstGeom prst="ellipse">
            <a:avLst/>
          </a:prstGeom>
          <a:solidFill>
            <a:srgbClr val="0B3D2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4133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" y="406908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customer data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291840" y="4069080"/>
            <a:ext cx="3931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email and phone mandatory at checkout and audit Sales Amount vs Quantity for pricing errors.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360920" y="4160520"/>
            <a:ext cx="1325880" cy="347472"/>
          </a:xfrm>
          <a:prstGeom prst="roundRect">
            <a:avLst>
              <a:gd name="adj" fmla="val 15789"/>
            </a:avLst>
          </a:prstGeom>
          <a:solidFill>
            <a:srgbClr val="E6F2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60920" y="41605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Admin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Scaling the Business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 a proven, balanced three-region model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371600"/>
            <a:ext cx="384048" cy="384048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new cities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Port Harcourt model in 1–2 new hubs (e.g., Ibadan, Kano, Enugu). The three existing regions show demand is not single-city.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384048" cy="384048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832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retention and loyalty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small repeat customer base, launch a loyalty or referral programme and corporate account plans to grow lifetime value.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371600"/>
            <a:ext cx="384048" cy="384048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1722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digital sales channels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187452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e-commerce and WhatsApp ordering with Transfer/Card payment to widen reach beyond rep-led selling and reduce cash handling.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063240"/>
            <a:ext cx="384048" cy="384048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logistics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delivery partnerships or a dedicated fulfilment team with SLAs for Urgent Delivery before volumes grow further.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46120" y="292608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063240"/>
            <a:ext cx="384048" cy="384048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3832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84048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data and CRM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38328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CRM with complete contact data, and track monthly KPIs (deal size, rating, repeat rate) on the Power BI dashboard.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0604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72200" y="3063240"/>
            <a:ext cx="384048" cy="384048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722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3063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product range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356616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D2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into high-margin add-ons such as warranties, repairs and device financing for Corporate clients to lift ticket size.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 Business Performance Report  |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651760"/>
            <a:ext cx="3657600" cy="3657600"/>
          </a:xfrm>
          <a:prstGeom prst="ellipse">
            <a:avLst/>
          </a:prstGeom>
          <a:solidFill>
            <a:srgbClr val="1F6B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3E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doubled revenue to ₦227.7M in 2025 with a balanced spread across regions, products and customer types. The next stage of growth must come from better customer experience, higher deal value and scalable systems, not volume alone.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F6B4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poor ratings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→ under 12%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9748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F6B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834640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average deal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ticket size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74320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F6B4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983480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A5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Revive Lagos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regional growth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FE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priority targets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2026-09-25T17:42:53Z</dcterms:created>
  <dcterms:modified xsi:type="dcterms:W3CDTF">2026-09-25T17:42:53Z</dcterms:modified>
</cp:coreProperties>
</file>